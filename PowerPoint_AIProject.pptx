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K Grotesk" panose="020B0604020202020204" charset="0"/>
      <p:regular r:id="rId12"/>
    </p:embeddedFont>
    <p:embeddedFont>
      <p:font typeface="HK Grotesk Bold" panose="020B0604020202020204" charset="0"/>
      <p:regular r:id="rId13"/>
    </p:embeddedFont>
    <p:embeddedFont>
      <p:font typeface="HK Grotesk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F2D1"/>
    <a:srgbClr val="3EA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14912">
            <a:off x="-1534103" y="180151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6" y="0"/>
                </a:lnTo>
                <a:lnTo>
                  <a:pt x="21356206" y="6874464"/>
                </a:lnTo>
                <a:lnTo>
                  <a:pt x="0" y="687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0316071" cy="4403132"/>
            <a:chOff x="0" y="0"/>
            <a:chExt cx="13754762" cy="5870843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50"/>
              <a:ext cx="13754762" cy="4583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320"/>
                </a:lnSpc>
              </a:pPr>
              <a:r>
                <a:rPr lang="en-IE" sz="12000" b="1" spc="-360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Malicious Url</a:t>
              </a:r>
            </a:p>
            <a:p>
              <a:pPr algn="l">
                <a:lnSpc>
                  <a:spcPts val="13320"/>
                </a:lnSpc>
              </a:pPr>
              <a:r>
                <a:rPr lang="en-IE" sz="12000" b="1" spc="-360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Detection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252425"/>
              <a:ext cx="7714532" cy="618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1"/>
                </a:lnSpc>
              </a:pPr>
              <a:r>
                <a:rPr lang="en-IE" sz="3199" noProof="0" dirty="0">
                  <a:solidFill>
                    <a:srgbClr val="57FF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TEAM AMETHYST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30652" y="7061766"/>
            <a:ext cx="1928648" cy="2074442"/>
            <a:chOff x="0" y="0"/>
            <a:chExt cx="2571531" cy="2765923"/>
          </a:xfrm>
        </p:grpSpPr>
        <p:sp>
          <p:nvSpPr>
            <p:cNvPr id="7" name="AutoShape 7"/>
            <p:cNvSpPr/>
            <p:nvPr/>
          </p:nvSpPr>
          <p:spPr>
            <a:xfrm>
              <a:off x="2508031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2571531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4"/>
                </a:lnSpc>
              </a:pPr>
              <a:r>
                <a:rPr lang="en-IE" sz="2400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4217" y="0"/>
            <a:ext cx="19036434" cy="6437888"/>
          </a:xfrm>
          <a:custGeom>
            <a:avLst/>
            <a:gdLst/>
            <a:ahLst/>
            <a:cxnLst/>
            <a:rect l="l" t="t" r="r" b="b"/>
            <a:pathLst>
              <a:path w="19036434" h="6437888">
                <a:moveTo>
                  <a:pt x="0" y="0"/>
                </a:moveTo>
                <a:lnTo>
                  <a:pt x="19036434" y="0"/>
                </a:lnTo>
                <a:lnTo>
                  <a:pt x="19036434" y="6437888"/>
                </a:lnTo>
                <a:lnTo>
                  <a:pt x="0" y="643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9148486" y="1095375"/>
            <a:ext cx="8115300" cy="1143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80"/>
              </a:lnSpc>
            </a:pPr>
            <a:r>
              <a:rPr lang="en-IE" sz="8000" b="1" spc="-240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Overview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214" y="6745433"/>
            <a:ext cx="4790891" cy="2109888"/>
            <a:chOff x="0" y="0"/>
            <a:chExt cx="6387855" cy="2813184"/>
          </a:xfrm>
        </p:grpSpPr>
        <p:sp>
          <p:nvSpPr>
            <p:cNvPr id="5" name="TextBox 5"/>
            <p:cNvSpPr txBox="1"/>
            <p:nvPr/>
          </p:nvSpPr>
          <p:spPr>
            <a:xfrm>
              <a:off x="0" y="-38100"/>
              <a:ext cx="6387855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URL DETECTION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54424"/>
              <a:ext cx="6387855" cy="1958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Many URLs out there are malicious and this model helps differentiate them.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48555" y="6745433"/>
            <a:ext cx="4790891" cy="1617023"/>
            <a:chOff x="0" y="0"/>
            <a:chExt cx="6387855" cy="2156031"/>
          </a:xfrm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6387855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 FEATURES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54424"/>
              <a:ext cx="6387855" cy="1301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Model is built on 18 features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72895" y="6756771"/>
            <a:ext cx="4790891" cy="1126593"/>
            <a:chOff x="0" y="0"/>
            <a:chExt cx="6387855" cy="150212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38100"/>
              <a:ext cx="6387855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3000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CLASSIFICATION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7671"/>
              <a:ext cx="6387855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binary: malicious vs legitimate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33461" y="7818100"/>
            <a:ext cx="1928648" cy="2074442"/>
            <a:chOff x="0" y="0"/>
            <a:chExt cx="2571531" cy="2765923"/>
          </a:xfrm>
        </p:grpSpPr>
        <p:sp>
          <p:nvSpPr>
            <p:cNvPr id="14" name="AutoShape 14"/>
            <p:cNvSpPr/>
            <p:nvPr/>
          </p:nvSpPr>
          <p:spPr>
            <a:xfrm>
              <a:off x="2508031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310295"/>
              <a:ext cx="2571531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4"/>
                </a:lnSpc>
              </a:pPr>
              <a:r>
                <a:rPr lang="en-IE" sz="2400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n-IE" noProof="0" dirty="0"/>
          </a:p>
        </p:txBody>
      </p:sp>
      <p:sp>
        <p:nvSpPr>
          <p:cNvPr id="3" name="Freeform 3"/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sp>
        <p:nvSpPr>
          <p:cNvPr id="4" name="AutoShape 4"/>
          <p:cNvSpPr/>
          <p:nvPr/>
        </p:nvSpPr>
        <p:spPr>
          <a:xfrm>
            <a:off x="8138756" y="1028700"/>
            <a:ext cx="52381" cy="8229600"/>
          </a:xfrm>
          <a:prstGeom prst="rect">
            <a:avLst/>
          </a:prstGeom>
          <a:solidFill>
            <a:srgbClr val="57FFDC"/>
          </a:solidFill>
        </p:spPr>
        <p:txBody>
          <a:bodyPr/>
          <a:lstStyle/>
          <a:p>
            <a:endParaRPr lang="en-IE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984960" y="4230200"/>
            <a:ext cx="5910916" cy="22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IE" sz="7999" b="1" spc="-239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Dataset</a:t>
            </a:r>
          </a:p>
          <a:p>
            <a:pPr algn="l">
              <a:lnSpc>
                <a:spcPts val="8880"/>
              </a:lnSpc>
            </a:pPr>
            <a:r>
              <a:rPr lang="en-IE" sz="8000" b="1" spc="-240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PipeLine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44000" y="349741"/>
            <a:ext cx="8115300" cy="2482077"/>
            <a:chOff x="0" y="0"/>
            <a:chExt cx="10820400" cy="3309436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10820400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CUSTOM SCRAPED DATASET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63949"/>
              <a:ext cx="10820400" cy="2445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Ethically scraped from UrlHause, OpenPhish, and Tranco Top 1M</a:t>
              </a:r>
            </a:p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Diverse real-world URLs across multiple sources</a:t>
              </a:r>
            </a:p>
            <a:p>
              <a:pPr algn="l">
                <a:lnSpc>
                  <a:spcPts val="3639"/>
                </a:lnSpc>
              </a:pPr>
              <a:endParaRPr lang="en-IE" sz="2799" spc="-55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2542091"/>
            <a:ext cx="8115300" cy="2020016"/>
            <a:chOff x="0" y="0"/>
            <a:chExt cx="10820400" cy="269335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10820400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DATA CLEANING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63949"/>
              <a:ext cx="10820400" cy="1829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Removed duplicates and invalid entries</a:t>
              </a:r>
            </a:p>
            <a:p>
              <a:pPr algn="l">
                <a:lnSpc>
                  <a:spcPts val="3639"/>
                </a:lnSpc>
              </a:pPr>
              <a:r>
                <a:rPr lang="en-IE" sz="2799" spc="-55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</a:t>
              </a: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ix of malicious and benign URLs</a:t>
              </a:r>
            </a:p>
            <a:p>
              <a:pPr algn="l">
                <a:lnSpc>
                  <a:spcPts val="3640"/>
                </a:lnSpc>
              </a:pPr>
              <a:endParaRPr lang="en-IE" sz="2799" spc="-55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4318451"/>
            <a:ext cx="8115300" cy="2020016"/>
            <a:chOff x="0" y="0"/>
            <a:chExt cx="10820400" cy="269335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0820400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DATA FEATURE EXTRACTION FUNCTION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63949"/>
              <a:ext cx="10820400" cy="1829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Extracted 18 features from each URL</a:t>
              </a:r>
            </a:p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Generated cleaned feature dataset (CSV)</a:t>
              </a:r>
            </a:p>
            <a:p>
              <a:pPr algn="l">
                <a:lnSpc>
                  <a:spcPts val="3640"/>
                </a:lnSpc>
              </a:pPr>
              <a:endParaRPr lang="en-IE" sz="2799" spc="-55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6173850"/>
            <a:ext cx="8115300" cy="2020016"/>
            <a:chOff x="0" y="0"/>
            <a:chExt cx="10820400" cy="269335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10820400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MODEL TRAINING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63949"/>
              <a:ext cx="10820400" cy="1829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70/30 train-test split</a:t>
              </a:r>
            </a:p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Applied feature scaling and validation</a:t>
              </a:r>
            </a:p>
            <a:p>
              <a:pPr algn="l">
                <a:lnSpc>
                  <a:spcPts val="3640"/>
                </a:lnSpc>
              </a:pPr>
              <a:endParaRPr lang="en-IE" sz="2799" spc="-55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0" y="7871172"/>
            <a:ext cx="8115300" cy="2020016"/>
            <a:chOff x="0" y="0"/>
            <a:chExt cx="10820400" cy="2693354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38100"/>
              <a:ext cx="10820400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OUTPUTING THE MODEL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63949"/>
              <a:ext cx="10820400" cy="1829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Serialized trained model for deployment</a:t>
              </a:r>
            </a:p>
            <a:p>
              <a:pPr algn="l">
                <a:lnSpc>
                  <a:spcPts val="3639"/>
                </a:lnSpc>
              </a:pPr>
              <a:r>
                <a:rPr lang="en-IE" sz="2799" spc="-55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Integrated into demo application</a:t>
              </a:r>
            </a:p>
            <a:p>
              <a:pPr algn="l">
                <a:lnSpc>
                  <a:spcPts val="3640"/>
                </a:lnSpc>
              </a:pPr>
              <a:endParaRPr lang="en-IE" sz="2799" spc="-55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4960" y="8921341"/>
            <a:ext cx="616957" cy="66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  <a:p>
            <a:pPr algn="l">
              <a:lnSpc>
                <a:spcPts val="2664"/>
              </a:lnSpc>
            </a:pPr>
            <a:endParaRPr lang="en-IE" sz="2399" b="1" noProof="0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309667" y="8900230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IE" sz="24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CREATIVE PORTFOLIO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7979987" y="1405820"/>
            <a:ext cx="369918" cy="369918"/>
            <a:chOff x="6705600" y="1371600"/>
            <a:chExt cx="10972800" cy="10972800"/>
          </a:xfrm>
        </p:grpSpPr>
        <p:sp>
          <p:nvSpPr>
            <p:cNvPr id="24" name="Freeform 24"/>
            <p:cNvSpPr/>
            <p:nvPr/>
          </p:nvSpPr>
          <p:spPr>
            <a:xfrm>
              <a:off x="6705545" y="1347009"/>
              <a:ext cx="10972910" cy="11021982"/>
            </a:xfrm>
            <a:custGeom>
              <a:avLst/>
              <a:gdLst/>
              <a:ahLst/>
              <a:cxnLst/>
              <a:rect l="l" t="t" r="r" b="b"/>
              <a:pathLst>
                <a:path w="10972910" h="11021982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8" y="11268362"/>
                    <a:pt x="6535653" y="11268362"/>
                    <a:pt x="8236763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3" y="739140"/>
                  </a:cubicBezTo>
                  <a:cubicBezTo>
                    <a:pt x="6535653" y="-246380"/>
                    <a:pt x="4437258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E" noProof="0" dirty="0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7979987" y="3182180"/>
            <a:ext cx="369918" cy="369918"/>
            <a:chOff x="6705600" y="1371600"/>
            <a:chExt cx="10972800" cy="10972800"/>
          </a:xfrm>
        </p:grpSpPr>
        <p:sp>
          <p:nvSpPr>
            <p:cNvPr id="26" name="Freeform 26"/>
            <p:cNvSpPr/>
            <p:nvPr/>
          </p:nvSpPr>
          <p:spPr>
            <a:xfrm>
              <a:off x="6705545" y="1347009"/>
              <a:ext cx="10972910" cy="11021982"/>
            </a:xfrm>
            <a:custGeom>
              <a:avLst/>
              <a:gdLst/>
              <a:ahLst/>
              <a:cxnLst/>
              <a:rect l="l" t="t" r="r" b="b"/>
              <a:pathLst>
                <a:path w="10972910" h="11021982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8" y="11268362"/>
                    <a:pt x="6535653" y="11268362"/>
                    <a:pt x="8236763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3" y="739140"/>
                  </a:cubicBezTo>
                  <a:cubicBezTo>
                    <a:pt x="6535653" y="-246380"/>
                    <a:pt x="4437258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n-IE" noProof="0" dirty="0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7979987" y="4958541"/>
            <a:ext cx="369918" cy="369918"/>
            <a:chOff x="6705600" y="1371600"/>
            <a:chExt cx="10972800" cy="10972800"/>
          </a:xfrm>
        </p:grpSpPr>
        <p:sp>
          <p:nvSpPr>
            <p:cNvPr id="28" name="Freeform 28"/>
            <p:cNvSpPr/>
            <p:nvPr/>
          </p:nvSpPr>
          <p:spPr>
            <a:xfrm>
              <a:off x="6705545" y="1347009"/>
              <a:ext cx="10972910" cy="11021982"/>
            </a:xfrm>
            <a:custGeom>
              <a:avLst/>
              <a:gdLst/>
              <a:ahLst/>
              <a:cxnLst/>
              <a:rect l="l" t="t" r="r" b="b"/>
              <a:pathLst>
                <a:path w="10972910" h="11021982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8" y="11268362"/>
                    <a:pt x="6535653" y="11268362"/>
                    <a:pt x="8236763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3" y="739140"/>
                  </a:cubicBezTo>
                  <a:cubicBezTo>
                    <a:pt x="6535653" y="-246380"/>
                    <a:pt x="4437258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E" noProof="0" dirty="0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7979987" y="6734901"/>
            <a:ext cx="369918" cy="369918"/>
            <a:chOff x="6705600" y="1371600"/>
            <a:chExt cx="10972800" cy="10972800"/>
          </a:xfrm>
        </p:grpSpPr>
        <p:sp>
          <p:nvSpPr>
            <p:cNvPr id="30" name="Freeform 30"/>
            <p:cNvSpPr/>
            <p:nvPr/>
          </p:nvSpPr>
          <p:spPr>
            <a:xfrm>
              <a:off x="6705545" y="1347009"/>
              <a:ext cx="10972910" cy="11021982"/>
            </a:xfrm>
            <a:custGeom>
              <a:avLst/>
              <a:gdLst/>
              <a:ahLst/>
              <a:cxnLst/>
              <a:rect l="l" t="t" r="r" b="b"/>
              <a:pathLst>
                <a:path w="10972910" h="11021982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8" y="11268362"/>
                    <a:pt x="6535653" y="11268362"/>
                    <a:pt x="8236763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3" y="739140"/>
                  </a:cubicBezTo>
                  <a:cubicBezTo>
                    <a:pt x="6535653" y="-246380"/>
                    <a:pt x="4437258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0097EE"/>
            </a:solidFill>
          </p:spPr>
          <p:txBody>
            <a:bodyPr/>
            <a:lstStyle/>
            <a:p>
              <a:endParaRPr lang="en-IE" noProof="0" dirty="0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7979987" y="8511262"/>
            <a:ext cx="369918" cy="369918"/>
            <a:chOff x="6705600" y="1371600"/>
            <a:chExt cx="10972800" cy="10972800"/>
          </a:xfrm>
        </p:grpSpPr>
        <p:sp>
          <p:nvSpPr>
            <p:cNvPr id="32" name="Freeform 32"/>
            <p:cNvSpPr/>
            <p:nvPr/>
          </p:nvSpPr>
          <p:spPr>
            <a:xfrm>
              <a:off x="6705545" y="1347009"/>
              <a:ext cx="10972910" cy="11021982"/>
            </a:xfrm>
            <a:custGeom>
              <a:avLst/>
              <a:gdLst/>
              <a:ahLst/>
              <a:cxnLst/>
              <a:rect l="l" t="t" r="r" b="b"/>
              <a:pathLst>
                <a:path w="10972910" h="11021982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8" y="11268362"/>
                    <a:pt x="6535653" y="11268362"/>
                    <a:pt x="8236763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3" y="739140"/>
                  </a:cubicBezTo>
                  <a:cubicBezTo>
                    <a:pt x="6535653" y="-246380"/>
                    <a:pt x="4437258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E" noProof="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78106"/>
            <a:ext cx="9496650" cy="6623897"/>
            <a:chOff x="0" y="66675"/>
            <a:chExt cx="12662200" cy="8831861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12662200" cy="1547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80"/>
                </a:lnSpc>
              </a:pPr>
              <a:r>
                <a:rPr lang="en-IE" sz="8000" b="1" spc="-240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Dataset Creation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2201" y="1576105"/>
              <a:ext cx="11979315" cy="7322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3000" noProof="0" dirty="0">
                  <a:solidFill>
                    <a:srgbClr val="57FFD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Kaggle Preset - Limitations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Synthetic/curated data lacking authenticity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Insufficient URL diversity for real-world scenarios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Minimal feature variation across samples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Predicted poorly using real-world urls</a:t>
              </a:r>
            </a:p>
            <a:p>
              <a:pPr marL="323850" lvl="1" algn="l">
                <a:lnSpc>
                  <a:spcPts val="3900"/>
                </a:lnSpc>
              </a:pPr>
              <a:endParaRPr lang="en-IE" sz="3000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algn="l">
                <a:lnSpc>
                  <a:spcPts val="3900"/>
                </a:lnSpc>
              </a:pPr>
              <a:r>
                <a:rPr lang="en-IE" sz="3000" noProof="0" dirty="0">
                  <a:solidFill>
                    <a:srgbClr val="57FFD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Custom Scraped Dataset - Solution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Real-world URLs from diverse sources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Complex benign URLs with varied structures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Richer feature representation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Better model generalisation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231817" flipH="1">
            <a:off x="-2041502" y="520691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3"/>
                </a:lnTo>
                <a:lnTo>
                  <a:pt x="21853999" y="7390753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1028700" y="6526705"/>
            <a:ext cx="616957" cy="2731595"/>
            <a:chOff x="0" y="0"/>
            <a:chExt cx="822610" cy="3642127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822610" cy="1331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IE" sz="2399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04</a:t>
              </a:r>
            </a:p>
            <a:p>
              <a:pPr algn="l">
                <a:lnSpc>
                  <a:spcPts val="2663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  <a:p>
              <a:pPr algn="l">
                <a:lnSpc>
                  <a:spcPts val="2664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8835521" y="280908"/>
            <a:ext cx="616957" cy="2074442"/>
            <a:chOff x="0" y="0"/>
            <a:chExt cx="822610" cy="2765923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4"/>
                </a:lnSpc>
              </a:pPr>
              <a:endParaRPr lang="en-IE" noProof="0" dirty="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028700" y="1028100"/>
            <a:ext cx="1908159" cy="0"/>
          </a:xfrm>
          <a:prstGeom prst="line">
            <a:avLst/>
          </a:prstGeom>
          <a:ln w="38100" cap="flat">
            <a:solidFill>
              <a:srgbClr val="57FFD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E" noProof="0" dirty="0"/>
          </a:p>
        </p:txBody>
      </p:sp>
      <p:sp>
        <p:nvSpPr>
          <p:cNvPr id="13" name="AutoShape 13"/>
          <p:cNvSpPr/>
          <p:nvPr/>
        </p:nvSpPr>
        <p:spPr>
          <a:xfrm>
            <a:off x="1028700" y="1009650"/>
            <a:ext cx="0" cy="1906673"/>
          </a:xfrm>
          <a:prstGeom prst="line">
            <a:avLst/>
          </a:prstGeom>
          <a:ln w="38100" cap="flat">
            <a:solidFill>
              <a:srgbClr val="57FFD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E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339900"/>
            <a:ext cx="4366021" cy="2109888"/>
            <a:chOff x="0" y="0"/>
            <a:chExt cx="5821361" cy="2813184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5821361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OVERALL DATASET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54424"/>
              <a:ext cx="5821361" cy="1958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Total URLs: 17,982</a:t>
              </a:r>
            </a:p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Training Set: 12,587 (70%)</a:t>
              </a:r>
            </a:p>
            <a:p>
              <a:pPr algn="l">
                <a:lnSpc>
                  <a:spcPts val="3900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Testing Set: 5,395 (30%)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55946" y="6339900"/>
            <a:ext cx="4790891" cy="1617023"/>
            <a:chOff x="0" y="0"/>
            <a:chExt cx="6387855" cy="2156031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"/>
              <a:ext cx="6387855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CLASS DISTRIBUTION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54424"/>
              <a:ext cx="6387855" cy="1301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Malicious URLs: 11,688 (65%)</a:t>
              </a:r>
            </a:p>
            <a:p>
              <a:pPr algn="l">
                <a:lnSpc>
                  <a:spcPts val="3900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Benign URLs: 6,294 (35%)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159326" y="-988809"/>
            <a:ext cx="19707514" cy="6664839"/>
          </a:xfrm>
          <a:custGeom>
            <a:avLst/>
            <a:gdLst/>
            <a:ahLst/>
            <a:cxnLst/>
            <a:rect l="l" t="t" r="r" b="b"/>
            <a:pathLst>
              <a:path w="19707514" h="6664839">
                <a:moveTo>
                  <a:pt x="0" y="0"/>
                </a:moveTo>
                <a:lnTo>
                  <a:pt x="19707513" y="0"/>
                </a:lnTo>
                <a:lnTo>
                  <a:pt x="19707513" y="6664839"/>
                </a:lnTo>
                <a:lnTo>
                  <a:pt x="0" y="6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8551392" y="395981"/>
            <a:ext cx="9407613" cy="100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769"/>
              </a:lnSpc>
            </a:pPr>
            <a:r>
              <a:rPr lang="en-IE" sz="6999" b="1" spc="-209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DATASET STATISTICS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708837" y="6339900"/>
            <a:ext cx="5130607" cy="3095618"/>
            <a:chOff x="0" y="0"/>
            <a:chExt cx="6840810" cy="412749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38100"/>
              <a:ext cx="6840810" cy="644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2999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CLASS IMBALANCE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4424"/>
              <a:ext cx="6840810" cy="3273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Imbalance Ratio: 1.86:1 </a:t>
              </a:r>
            </a:p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(Malicious:Benign)</a:t>
              </a:r>
            </a:p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Potential Impact that a Model bias toward majority class</a:t>
              </a:r>
            </a:p>
            <a:p>
              <a:pPr algn="l">
                <a:lnSpc>
                  <a:spcPts val="3900"/>
                </a:lnSpc>
              </a:pPr>
              <a:endParaRPr lang="en-IE" sz="2999" spc="-59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950821" y="7887709"/>
            <a:ext cx="616957" cy="3060172"/>
            <a:chOff x="0" y="0"/>
            <a:chExt cx="822610" cy="4080229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310295"/>
              <a:ext cx="822610" cy="1769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IE" sz="2399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05</a:t>
              </a:r>
            </a:p>
            <a:p>
              <a:pPr algn="l">
                <a:lnSpc>
                  <a:spcPts val="2663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  <a:p>
              <a:pPr algn="l">
                <a:lnSpc>
                  <a:spcPts val="2663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  <a:p>
              <a:pPr algn="l">
                <a:lnSpc>
                  <a:spcPts val="2664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741206">
            <a:off x="1617618" y="2973914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931760"/>
            <a:ext cx="7858237" cy="3718875"/>
            <a:chOff x="0" y="0"/>
            <a:chExt cx="10477649" cy="4958500"/>
          </a:xfrm>
        </p:grpSpPr>
        <p:sp>
          <p:nvSpPr>
            <p:cNvPr id="4" name="TextBox 4"/>
            <p:cNvSpPr txBox="1"/>
            <p:nvPr/>
          </p:nvSpPr>
          <p:spPr>
            <a:xfrm>
              <a:off x="0" y="47625"/>
              <a:ext cx="10477649" cy="2279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60"/>
                </a:lnSpc>
              </a:pPr>
              <a:r>
                <a:rPr lang="en-IE" sz="6000" b="1" spc="-179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FEATURE EXTRACTION FUNCTION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999740"/>
              <a:ext cx="10477649" cy="1958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Processes URLs and extracts 18 features</a:t>
              </a:r>
            </a:p>
            <a:p>
              <a:pPr algn="l">
                <a:lnSpc>
                  <a:spcPts val="3899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Supports batch processing and single URL analysis</a:t>
              </a:r>
            </a:p>
            <a:p>
              <a:pPr algn="l">
                <a:lnSpc>
                  <a:spcPts val="3900"/>
                </a:lnSpc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Core function enabling model predictions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508493" y="8921341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IE" sz="24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CREATIVE PORTFOLIO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42343" y="7183858"/>
            <a:ext cx="616957" cy="2074442"/>
            <a:chOff x="0" y="0"/>
            <a:chExt cx="822610" cy="2765923"/>
          </a:xfrm>
        </p:grpSpPr>
        <p:sp>
          <p:nvSpPr>
            <p:cNvPr id="8" name="AutoShape 8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4"/>
                </a:lnSpc>
              </a:pPr>
              <a:r>
                <a:rPr lang="en-IE" sz="2400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5162550"/>
            <a:ext cx="9029700" cy="361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IE" sz="2400" noProof="0" dirty="0">
                <a:solidFill>
                  <a:srgbClr val="57FFDC"/>
                </a:solidFill>
                <a:latin typeface="HK Grotesk"/>
                <a:ea typeface="HK Grotesk"/>
                <a:cs typeface="HK Grotesk"/>
                <a:sym typeface="HK Grotesk"/>
              </a:rPr>
              <a:t>FEATURES: URL STRUCTURE (4) | SECURITY (5) | BEHAVIORAL (9)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736015"/>
            <a:ext cx="8910876" cy="67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IE" sz="2400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INPUT: RAW URL → OUTPUT: 18-FEATURE CSV SCALABLE FOR LARGE DATASETS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578ABF-6955-7F68-2D24-3E73E6DFD5E7}"/>
              </a:ext>
            </a:extLst>
          </p:cNvPr>
          <p:cNvSpPr txBox="1"/>
          <p:nvPr/>
        </p:nvSpPr>
        <p:spPr>
          <a:xfrm>
            <a:off x="10253046" y="1817537"/>
            <a:ext cx="1158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>
                <a:solidFill>
                  <a:schemeClr val="bg1"/>
                </a:solidFill>
              </a:rPr>
              <a:t>https://www.tudublin.ie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E3526F1-E26E-1389-F6A0-411552E9E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22550"/>
              </p:ext>
            </p:extLst>
          </p:nvPr>
        </p:nvGraphicFramePr>
        <p:xfrm>
          <a:off x="10253046" y="2299274"/>
          <a:ext cx="3394472" cy="2752296"/>
        </p:xfrm>
        <a:graphic>
          <a:graphicData uri="http://schemas.openxmlformats.org/drawingml/2006/table">
            <a:tbl>
              <a:tblPr/>
              <a:tblGrid>
                <a:gridCol w="3394472">
                  <a:extLst>
                    <a:ext uri="{9D8B030D-6E8A-4147-A177-3AD203B41FA5}">
                      <a16:colId xmlns:a16="http://schemas.microsoft.com/office/drawing/2014/main" val="3374647566"/>
                    </a:ext>
                  </a:extLst>
                </a:gridCol>
              </a:tblGrid>
              <a:tr h="30173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E" sz="1500" dirty="0">
                        <a:solidFill>
                          <a:schemeClr val="bg1"/>
                        </a:solidFill>
                      </a:endParaRP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368953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uses_https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11912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length_hostname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883615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nb_dots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735623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prefix_suffix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612893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ratio_digits_host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28274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url_entropy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920945"/>
                  </a:ext>
                </a:extLst>
              </a:tr>
              <a:tr h="10410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sz="1800" dirty="0">
                          <a:solidFill>
                            <a:schemeClr val="bg1"/>
                          </a:solidFill>
                        </a:rPr>
                        <a:t>num_subdomains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40648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93E67AB-07E1-8ACC-A141-43E5B32A9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337518"/>
              </p:ext>
            </p:extLst>
          </p:nvPr>
        </p:nvGraphicFramePr>
        <p:xfrm>
          <a:off x="12866501" y="2576134"/>
          <a:ext cx="41148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115350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is_archive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37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ratio_digits_url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14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filename_entropy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35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is_punycode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43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nb_slash, nb_qm, nb_eq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0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depth_of_path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39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E" dirty="0">
                          <a:solidFill>
                            <a:schemeClr val="bg1"/>
                          </a:solidFill>
                        </a:rPr>
                        <a:t>is_exec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4868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7448">
            <a:off x="-4743816" y="-417080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5" y="0"/>
                </a:lnTo>
                <a:lnTo>
                  <a:pt x="21356205" y="6874465"/>
                </a:lnTo>
                <a:lnTo>
                  <a:pt x="0" y="687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84960" y="7183858"/>
            <a:ext cx="616957" cy="2403019"/>
            <a:chOff x="0" y="0"/>
            <a:chExt cx="822610" cy="3204025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10295"/>
              <a:ext cx="822610" cy="89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IE" sz="2399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07</a:t>
              </a:r>
            </a:p>
            <a:p>
              <a:pPr algn="l">
                <a:lnSpc>
                  <a:spcPts val="2664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93438" y="4002660"/>
            <a:ext cx="8115300" cy="4694669"/>
            <a:chOff x="0" y="0"/>
            <a:chExt cx="10820400" cy="6259559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0820400" cy="762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4"/>
                </a:lnSpc>
              </a:pPr>
              <a:r>
                <a:rPr lang="en-IE" sz="3699" noProof="0" dirty="0">
                  <a:solidFill>
                    <a:srgbClr val="57FFD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MODEL SELECTION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85909"/>
              <a:ext cx="9802526" cy="5073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Simple yet effective for multi-feature classification problems</a:t>
              </a:r>
            </a:p>
            <a:p>
              <a:pPr algn="l">
                <a:lnSpc>
                  <a:spcPts val="3750"/>
                </a:lnSpc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Non-parametric approach requires no assumptions about data distribution</a:t>
              </a:r>
            </a:p>
            <a:p>
              <a:pPr algn="l">
                <a:lnSpc>
                  <a:spcPts val="3750"/>
                </a:lnSpc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Interpretable results: predictions based on similar URLs in dataset</a:t>
              </a:r>
            </a:p>
            <a:p>
              <a:pPr algn="l">
                <a:lnSpc>
                  <a:spcPts val="3750"/>
                </a:lnSpc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Handles non-linear decision boundaries well</a:t>
              </a:r>
            </a:p>
            <a:p>
              <a:pPr algn="l">
                <a:lnSpc>
                  <a:spcPts val="3750"/>
                </a:lnSpc>
              </a:pPr>
              <a:endParaRPr lang="en-IE" sz="3000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06102" y="2070690"/>
            <a:ext cx="9011721" cy="579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IE" sz="399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K-NEAREST NEIGHBORS (KNN) MODEL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08738" y="4002660"/>
            <a:ext cx="8115300" cy="3504044"/>
            <a:chOff x="0" y="0"/>
            <a:chExt cx="10820400" cy="467205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10820400" cy="762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4"/>
                </a:lnSpc>
              </a:pPr>
              <a:r>
                <a:rPr lang="en-IE" sz="3699" noProof="0" dirty="0">
                  <a:solidFill>
                    <a:srgbClr val="57FFD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MODEL CONFIGURATION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68409"/>
              <a:ext cx="9236033" cy="3803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 = 20 neighbors</a:t>
              </a:r>
            </a:p>
            <a:p>
              <a:pPr marL="647700" lvl="1" indent="-323850" algn="l">
                <a:lnSpc>
                  <a:spcPts val="375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Balances between capturing local patterns and avoiding overfitting</a:t>
              </a:r>
            </a:p>
            <a:p>
              <a:pPr marL="647700" lvl="1" indent="-323850" algn="l">
                <a:lnSpc>
                  <a:spcPts val="3750"/>
                </a:lnSpc>
                <a:buFont typeface="Arial"/>
                <a:buChar char="•"/>
              </a:pPr>
              <a:r>
                <a:rPr lang="en-IE" sz="3000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Tested values: 3, 5, 10, 15, 20, 25 (k=20 showed optimal performance)</a:t>
              </a:r>
            </a:p>
            <a:p>
              <a:pPr algn="l">
                <a:lnSpc>
                  <a:spcPts val="3750"/>
                </a:lnSpc>
              </a:pPr>
              <a:endParaRPr lang="en-IE" sz="3000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432" y="628170"/>
            <a:ext cx="8448568" cy="169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IE" sz="6000" spc="-17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MODEL PERFORMANCE / 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95432" y="4549967"/>
            <a:ext cx="6060293" cy="2833211"/>
            <a:chOff x="0" y="0"/>
            <a:chExt cx="8080390" cy="3777615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8080390" cy="63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5"/>
                </a:lnSpc>
              </a:pPr>
              <a:r>
                <a:rPr lang="en-IE" sz="2950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REAL-WORLD DEMO RESULTS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58197"/>
              <a:ext cx="8080390" cy="3219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36959" lvl="1" indent="-318479" algn="l">
                <a:lnSpc>
                  <a:spcPts val="3835"/>
                </a:lnSpc>
                <a:buFont typeface="Arial"/>
                <a:buChar char="•"/>
              </a:pPr>
              <a:r>
                <a:rPr lang="en-IE" sz="2950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kNN: 14/18 correct (77.8%)</a:t>
              </a:r>
            </a:p>
            <a:p>
              <a:pPr marL="636959" lvl="1" indent="-318479" algn="l">
                <a:lnSpc>
                  <a:spcPts val="3835"/>
                </a:lnSpc>
                <a:buFont typeface="Arial"/>
                <a:buChar char="•"/>
              </a:pPr>
              <a:r>
                <a:rPr lang="en-IE" sz="2950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XGBoost: 14/18 correct (77.8%)</a:t>
              </a:r>
            </a:p>
            <a:p>
              <a:pPr marL="636959" lvl="1" indent="-318479" algn="l">
                <a:lnSpc>
                  <a:spcPts val="3835"/>
                </a:lnSpc>
                <a:buFont typeface="Arial"/>
                <a:buChar char="•"/>
              </a:pPr>
              <a:r>
                <a:rPr lang="en-IE" sz="2950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Random Forest: 13/18 correct (72.2%)</a:t>
              </a:r>
            </a:p>
            <a:p>
              <a:pPr algn="l">
                <a:lnSpc>
                  <a:spcPts val="3835"/>
                </a:lnSpc>
              </a:pPr>
              <a:endParaRPr lang="en-IE" sz="2950" spc="-59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798767" y="8921341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4"/>
              </a:lnSpc>
            </a:pPr>
            <a:r>
              <a:rPr lang="en-IE" sz="24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CREATIVE PORTFOLIO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42343" y="7183858"/>
            <a:ext cx="616957" cy="2403019"/>
            <a:chOff x="0" y="0"/>
            <a:chExt cx="822610" cy="3204025"/>
          </a:xfrm>
        </p:grpSpPr>
        <p:sp>
          <p:nvSpPr>
            <p:cNvPr id="8" name="AutoShape 8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89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IE" sz="2399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08</a:t>
              </a:r>
            </a:p>
            <a:p>
              <a:pPr algn="r">
                <a:lnSpc>
                  <a:spcPts val="2664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1461512" flipV="1">
            <a:off x="8601563" y="92778"/>
            <a:ext cx="14662108" cy="4465495"/>
          </a:xfrm>
          <a:custGeom>
            <a:avLst/>
            <a:gdLst/>
            <a:ahLst/>
            <a:cxnLst/>
            <a:rect l="l" t="t" r="r" b="b"/>
            <a:pathLst>
              <a:path w="14662108" h="4465495">
                <a:moveTo>
                  <a:pt x="0" y="4465495"/>
                </a:moveTo>
                <a:lnTo>
                  <a:pt x="14662108" y="4465495"/>
                </a:lnTo>
                <a:lnTo>
                  <a:pt x="14662108" y="0"/>
                </a:lnTo>
                <a:lnTo>
                  <a:pt x="0" y="0"/>
                </a:lnTo>
                <a:lnTo>
                  <a:pt x="0" y="44654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grpSp>
        <p:nvGrpSpPr>
          <p:cNvPr id="11" name="Group 11"/>
          <p:cNvGrpSpPr/>
          <p:nvPr/>
        </p:nvGrpSpPr>
        <p:grpSpPr>
          <a:xfrm>
            <a:off x="695432" y="2296950"/>
            <a:ext cx="6060293" cy="2377096"/>
            <a:chOff x="0" y="-38100"/>
            <a:chExt cx="8080390" cy="316946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8080390" cy="63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5"/>
                </a:lnSpc>
              </a:pPr>
              <a:r>
                <a:rPr lang="en-IE" sz="2950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TEST SET PERFORMANCE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58197"/>
              <a:ext cx="8080390" cy="2573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36959" lvl="1" indent="-318479" algn="l">
                <a:lnSpc>
                  <a:spcPts val="3835"/>
                </a:lnSpc>
                <a:buFont typeface="Arial"/>
                <a:buChar char="•"/>
              </a:pPr>
              <a:r>
                <a:rPr lang="en-IE" sz="2950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Random Forest: 96% accuracy</a:t>
              </a:r>
            </a:p>
            <a:p>
              <a:pPr marL="636959" lvl="1" indent="-318479" algn="l">
                <a:lnSpc>
                  <a:spcPts val="3835"/>
                </a:lnSpc>
                <a:buFont typeface="Arial"/>
                <a:buChar char="•"/>
              </a:pPr>
              <a:r>
                <a:rPr lang="en-IE" sz="2950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XGBoost: 98% accuracy</a:t>
              </a:r>
            </a:p>
            <a:p>
              <a:pPr marL="636959" lvl="1" indent="-318479" algn="l">
                <a:lnSpc>
                  <a:spcPts val="3835"/>
                </a:lnSpc>
                <a:buFont typeface="Arial"/>
                <a:buChar char="•"/>
              </a:pPr>
              <a:r>
                <a:rPr lang="en-IE" sz="2950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kNN: 93% accuracy</a:t>
              </a:r>
            </a:p>
            <a:p>
              <a:pPr algn="l">
                <a:lnSpc>
                  <a:spcPts val="3835"/>
                </a:lnSpc>
              </a:pPr>
              <a:endParaRPr lang="en-IE" sz="2950" spc="-59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772400" y="2285792"/>
            <a:ext cx="6248400" cy="3890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5"/>
              </a:lnSpc>
            </a:pPr>
            <a:r>
              <a:rPr lang="en-GB" sz="2950" b="1" spc="-59" noProof="0" dirty="0">
                <a:solidFill>
                  <a:srgbClr val="53F2D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Summary</a:t>
            </a:r>
          </a:p>
          <a:p>
            <a:pPr algn="l">
              <a:lnSpc>
                <a:spcPts val="3835"/>
              </a:lnSpc>
            </a:pPr>
            <a:r>
              <a:rPr lang="en-GB" sz="2950" spc="-59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During development testing, The model shown to have a quite high accuracy which can show an overfitting to the data</a:t>
            </a:r>
          </a:p>
          <a:p>
            <a:pPr algn="l">
              <a:lnSpc>
                <a:spcPts val="3835"/>
              </a:lnSpc>
            </a:pPr>
            <a:endParaRPr lang="en-GB" sz="2950" spc="-59" dirty="0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3835"/>
              </a:lnSpc>
            </a:pPr>
            <a:r>
              <a:rPr lang="en-GB" sz="2950" spc="-59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When used on real</a:t>
            </a:r>
            <a:r>
              <a:rPr lang="en-GB" sz="2950" spc="-59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-world urls, This performance dropped to around ~80%</a:t>
            </a:r>
            <a:endParaRPr lang="en-IE" sz="2950" spc="-59" noProof="0" dirty="0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960" y="431746"/>
            <a:ext cx="10011852" cy="1905926"/>
            <a:chOff x="0" y="0"/>
            <a:chExt cx="13349137" cy="2541235"/>
          </a:xfrm>
        </p:grpSpPr>
        <p:sp>
          <p:nvSpPr>
            <p:cNvPr id="3" name="TextBox 3"/>
            <p:cNvSpPr txBox="1"/>
            <p:nvPr/>
          </p:nvSpPr>
          <p:spPr>
            <a:xfrm>
              <a:off x="0" y="47625"/>
              <a:ext cx="13349137" cy="1161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60"/>
                </a:lnSpc>
              </a:pPr>
              <a:r>
                <a:rPr lang="en-IE" sz="6000" b="1" spc="-179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CHALLENGES &amp; LIMITATIONS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93535"/>
              <a:ext cx="12629204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E" sz="3000" b="1" noProof="0" dirty="0">
                  <a:solidFill>
                    <a:srgbClr val="57FF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------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231817" flipH="1">
            <a:off x="-2041502" y="5206915"/>
            <a:ext cx="21853999" cy="7390754"/>
          </a:xfrm>
          <a:custGeom>
            <a:avLst/>
            <a:gdLst/>
            <a:ahLst/>
            <a:cxnLst/>
            <a:rect l="l" t="t" r="r" b="b"/>
            <a:pathLst>
              <a:path w="21853999" h="7390754">
                <a:moveTo>
                  <a:pt x="21853999" y="0"/>
                </a:moveTo>
                <a:lnTo>
                  <a:pt x="0" y="0"/>
                </a:lnTo>
                <a:lnTo>
                  <a:pt x="0" y="7390753"/>
                </a:lnTo>
                <a:lnTo>
                  <a:pt x="21853999" y="7390753"/>
                </a:lnTo>
                <a:lnTo>
                  <a:pt x="21853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13125450" y="1047750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4"/>
              </a:lnSpc>
            </a:pPr>
            <a:r>
              <a:rPr lang="en-IE" sz="24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CREATIVE PORTFOLIO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4960" y="7183858"/>
            <a:ext cx="616957" cy="2403019"/>
            <a:chOff x="0" y="0"/>
            <a:chExt cx="822610" cy="3204025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89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3"/>
                </a:lnSpc>
              </a:pPr>
              <a:r>
                <a:rPr lang="en-IE" sz="2399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09</a:t>
              </a:r>
            </a:p>
            <a:p>
              <a:pPr algn="l">
                <a:lnSpc>
                  <a:spcPts val="2664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84960" y="2309097"/>
            <a:ext cx="9471903" cy="327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IE" sz="24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 IMBALANCE (65% MALICIOUS VS 35% BENIGN)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IE" sz="24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 overlap between legitimate and malicious URLs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IE" sz="24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Real-world URL diversity exceeds training data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IE" sz="24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Performance drop: 93% test set → 77.8% real-world (overfitting)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IE" sz="24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False positives reduce user trust</a:t>
            </a:r>
          </a:p>
          <a:p>
            <a:pPr algn="l">
              <a:lnSpc>
                <a:spcPts val="3249"/>
              </a:lnSpc>
            </a:pPr>
            <a:endParaRPr lang="en-IE" sz="2499" b="1" noProof="0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9112">
            <a:off x="8549013" y="1019350"/>
            <a:ext cx="14698520" cy="4731386"/>
          </a:xfrm>
          <a:custGeom>
            <a:avLst/>
            <a:gdLst/>
            <a:ahLst/>
            <a:cxnLst/>
            <a:rect l="l" t="t" r="r" b="b"/>
            <a:pathLst>
              <a:path w="14698520" h="4731386">
                <a:moveTo>
                  <a:pt x="0" y="0"/>
                </a:moveTo>
                <a:lnTo>
                  <a:pt x="14698520" y="0"/>
                </a:lnTo>
                <a:lnTo>
                  <a:pt x="14698520" y="4731387"/>
                </a:lnTo>
                <a:lnTo>
                  <a:pt x="0" y="4731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836529" y="700804"/>
            <a:ext cx="8307471" cy="5690334"/>
            <a:chOff x="0" y="0"/>
            <a:chExt cx="11076627" cy="7587112"/>
          </a:xfrm>
        </p:grpSpPr>
        <p:sp>
          <p:nvSpPr>
            <p:cNvPr id="4" name="TextBox 4"/>
            <p:cNvSpPr txBox="1"/>
            <p:nvPr/>
          </p:nvSpPr>
          <p:spPr>
            <a:xfrm>
              <a:off x="0" y="47625"/>
              <a:ext cx="11076627" cy="2279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60"/>
                </a:lnSpc>
              </a:pPr>
              <a:r>
                <a:rPr lang="en-IE" sz="6000" b="1" spc="-179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CONCLUSION &amp; FUTURE WORK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999740"/>
              <a:ext cx="11076627" cy="458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899"/>
                </a:lnSpc>
                <a:buFont typeface="Arial"/>
                <a:buChar char="•"/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Machine learning effectively detects malicious URLs using structural features</a:t>
              </a:r>
            </a:p>
            <a:p>
              <a:pPr marL="647700" lvl="1" indent="-323850" algn="l">
                <a:lnSpc>
                  <a:spcPts val="3899"/>
                </a:lnSpc>
                <a:buFont typeface="Arial"/>
                <a:buChar char="•"/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Class imbalance significantly impacts model performance</a:t>
              </a:r>
            </a:p>
            <a:p>
              <a:pPr marL="647700" lvl="1" indent="-323850" algn="l">
                <a:lnSpc>
                  <a:spcPts val="3899"/>
                </a:lnSpc>
                <a:buFont typeface="Arial"/>
                <a:buChar char="•"/>
              </a:pPr>
              <a:r>
                <a:rPr lang="en-IE" sz="2999" spc="-59" noProof="0" dirty="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Real-world performance lower than test set indicates overfitting</a:t>
              </a:r>
            </a:p>
            <a:p>
              <a:pPr algn="l">
                <a:lnSpc>
                  <a:spcPts val="3900"/>
                </a:lnSpc>
              </a:pPr>
              <a:endParaRPr lang="en-IE" sz="2999" spc="-59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831348" y="869746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IE" sz="24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CREATIVE PORTFOLIO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324021" y="7589075"/>
            <a:ext cx="616957" cy="2403019"/>
            <a:chOff x="0" y="0"/>
            <a:chExt cx="822610" cy="3204025"/>
          </a:xfrm>
        </p:grpSpPr>
        <p:sp>
          <p:nvSpPr>
            <p:cNvPr id="8" name="AutoShape 8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  <p:txBody>
            <a:bodyPr/>
            <a:lstStyle/>
            <a:p>
              <a:endParaRPr lang="en-IE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10295"/>
              <a:ext cx="822610" cy="89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IE" sz="2399" b="1" noProof="0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10</a:t>
              </a:r>
            </a:p>
            <a:p>
              <a:pPr algn="r">
                <a:lnSpc>
                  <a:spcPts val="2664"/>
                </a:lnSpc>
              </a:pPr>
              <a:endParaRPr lang="en-IE" sz="2399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36529" y="6410188"/>
            <a:ext cx="8307471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774"/>
              </a:lnSpc>
              <a:spcBef>
                <a:spcPct val="0"/>
              </a:spcBef>
              <a:buFont typeface="Arial"/>
              <a:buChar char="•"/>
            </a:pPr>
            <a:r>
              <a:rPr lang="en-IE" sz="249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DIVERSE TRAINING DATA COLLECTION</a:t>
            </a:r>
          </a:p>
          <a:p>
            <a:pPr marL="539749" lvl="1" indent="-269875" algn="l">
              <a:lnSpc>
                <a:spcPts val="2774"/>
              </a:lnSpc>
              <a:spcBef>
                <a:spcPct val="0"/>
              </a:spcBef>
              <a:buFont typeface="Arial"/>
              <a:buChar char="•"/>
            </a:pPr>
            <a:r>
              <a:rPr lang="en-IE" sz="249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ADVANCED FEATURES (DOMAIN REPUTATION, SSL CERTIFICATES)</a:t>
            </a:r>
          </a:p>
          <a:p>
            <a:pPr marL="539749" lvl="1" indent="-269875" algn="l">
              <a:lnSpc>
                <a:spcPts val="2774"/>
              </a:lnSpc>
              <a:spcBef>
                <a:spcPct val="0"/>
              </a:spcBef>
              <a:buFont typeface="Arial"/>
              <a:buChar char="•"/>
            </a:pPr>
            <a:r>
              <a:rPr lang="en-IE" sz="249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DEEP LEARNING APPROACHES</a:t>
            </a:r>
          </a:p>
          <a:p>
            <a:pPr marL="539749" lvl="1" indent="-269875" algn="l">
              <a:lnSpc>
                <a:spcPts val="2774"/>
              </a:lnSpc>
              <a:spcBef>
                <a:spcPct val="0"/>
              </a:spcBef>
              <a:buFont typeface="Arial"/>
              <a:buChar char="•"/>
            </a:pPr>
            <a:r>
              <a:rPr lang="en-IE" sz="249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ENSEMBLE METHODS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endParaRPr lang="en-IE" sz="2499" noProof="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6529" y="6038713"/>
            <a:ext cx="830747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IE" sz="24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 IMPROVEMENTS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8929" y="2731691"/>
            <a:ext cx="830747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IE" sz="2499" b="1" noProof="0" dirty="0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Custom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HK Grotesk</vt:lpstr>
      <vt:lpstr>Calibri</vt:lpstr>
      <vt:lpstr>HK Grotesk Light</vt:lpstr>
      <vt:lpstr>HK Grotesk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Technology Portfolio Presentation</dc:title>
  <cp:lastModifiedBy>X00212600 Warren Daly</cp:lastModifiedBy>
  <cp:revision>6</cp:revision>
  <dcterms:created xsi:type="dcterms:W3CDTF">2006-08-16T00:00:00Z</dcterms:created>
  <dcterms:modified xsi:type="dcterms:W3CDTF">2025-12-08T14:46:38Z</dcterms:modified>
  <dc:identifier>DAG631jJvrs</dc:identifier>
</cp:coreProperties>
</file>